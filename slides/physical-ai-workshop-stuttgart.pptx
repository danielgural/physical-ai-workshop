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on time. Repo QR is on the next slide; people will still be installing. Say the Nebius Builder Program early: it comes back at the end with a city-specific QR.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Leave this up during the whole setup chatter. The download is 1.1 GB; anyone who did not pre-download should start now and can watch the first two segments. USB sticks are at the front.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the question: when did you last watch 20 random episodes from your training set? Most robotics teams cannot answer. That is the whole workshop.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diagram. Each segment lights one step. Say the split now: I run the GPU steps on Nebius; you run everything else on your laptop with the GPU outputs baked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DEMO: drag a raw .mcap into the MCAP Explorer panel BEFORE clicking to this slide. 'Nothing was uploaded or converted — the browser is reading the file.'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only code slide before the notebooks. FiftyOne ≥ 1.21: multimodal media type. The file is the sample.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Grid previews → open the hero episode (19h-40m-44s) → arrange wrist / ext / 3D → scrub → click a cuboid → sidebar filter task_type, success → sort duration_s asc → open the 1.4 s and 2.8 s episodes → expand timeline: grasp/release tags → Shift+T, tag arm-stall → match_temporal_tags in the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the room should find in the 10 episodes they have. Do not reveal until they have looked.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extract_frames.py briefly: H.264 NAL units → ffmpeg → JPEG, each frame keeps episode_id, camera, timestamp_ns, gripper_open, joint_speed_norm. Then in the App: match gripper_open == False, sort by uniqueness both ways, show the near-duplicate tag, build + save curated_train.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frame remembers where it came from. That link is the payoff in segment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Embeddings panel: color by camera (3 worlds), task_type, gripper_open. Lasso an island. Similarity from the most-unique frame. Text prompt 'a robot gripper holding a blue brick'. Say clearly: on the deployment this compute is a Nebius Serverless job; the interactive part is what humans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slide on the split: batch compute lives in a GPU job, humans get the interactive part. If the stretch embeddings job landed, show its console entry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prompt string. Count values. Sort gripper boxes by low confidence → this is the review queue. Sanity check: % of wrist frames with a gripper box. Then the split-by-episode rule. Mention Token Factory VLMs as the natural next labeler (Nebius closes on that).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'models draft, humans verify'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OF PART ONE. The Nebius job was submitted during the embeddings segment; say so: 'a GPU in Finland is training while we listen to the talks.' Repo QR stays up through the break.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SUBMIT THE JOB before this slide (during segment 4 Q&amp;A). Show presenter/train_on_nebius.ipynb: export cell, upload, submit → job id → Nebius console AI Jobs page → poll states. While it trains: the job spec slide. If late, weights/best-dryrun.pt is the fallback and you say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whole job. No orchestrator, no plugin: SDK call, container, bucket.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Evaluation panel: click the confusion-matrix cells. Then sort val by eval_yolo_fp. Then the missed grippers — what does the model not see, and which episodes.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06 notebook: intervals_from_predictions → brick-visible tags → open an episode: grasp / release / brick-visible rows on the timeline. Rank episodes by mean gripper confidence. Then the flywheel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Payoff. Every step mapped to what a production team does. Flywheel: the next collection run gets curated with the views and tags saved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CTAs, in this order: FiftyOne on your own recordings (self-serve QR), then Nebius hands 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over to Nebius. If Nebius has no speaker at this stop, present 22–25 yourself; content is theirs.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Nebius H2 plan. Serverless is what we used. Token Factory is where the labeler VLMs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Concrete: where Token Factory plugs into the loop we just 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Nebius's recurring format. If they announced dates, add them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CTA. QR goes to link.voxel51.com/nebius-stuttgart which prefills the form with this event. Ask everyone to scan now, not later; it takes name, email, company, GitHub. Goal is 500 sign-ups across the roadshow.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Q&amp;A. Leave this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D04"/>
                </a:solidFill>
                <a:latin typeface="Helvetica Neue"/>
              </a:rPr>
              <a:t>NEBIUS × VOXEL51  ·  STUTTGART  ·  22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0" b="1">
                <a:solidFill>
                  <a:srgbClr val="F2F4F7"/>
                </a:solidFill>
                <a:latin typeface="Helvetica Neue"/>
              </a:rPr>
              <a:t>From raw robot logs</a:t>
            </a:r>
          </a:p>
          <a:p>
            <a:pPr algn="l"/>
            <a:r>
              <a:rPr sz="6000" b="1">
                <a:solidFill>
                  <a:srgbClr val="F2F4F7"/>
                </a:solidFill>
                <a:latin typeface="Helvetica Neue"/>
              </a:rPr>
              <a:t>to a trained detector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9AA4B2"/>
                </a:solidFill>
                <a:latin typeface="Helvetica Neue"/>
              </a:rPr>
              <a:t>A hands-on Physical AI workshop: real DROID recordings, open-source FiftyOne, GPUs on Nebius.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692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AA4B2"/>
                </a:solidFill>
                <a:latin typeface="Helvetica Neue"/>
              </a:rPr>
              <a:t>Daniel Gural — Partnership Engineering, Voxel51  ·  Impact Hub Stuttgart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D04"/>
                </a:solidFill>
                <a:latin typeface="Helvetica Neue"/>
              </a:rPr>
              <a:t>FOLLOW ALONG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Everything you need is one repo away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6949440" cy="265176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/>
            <a:r>
              <a:rPr sz="1600">
                <a:solidFill>
                  <a:srgbClr val="C8D3E0"/>
                </a:solidFill>
                <a:latin typeface="Menlo"/>
              </a:rPr>
              <a:t>git clone https://github.com/danielgural/physical-ai-workshop</a:t>
            </a:r>
          </a:p>
          <a:p>
            <a:r>
              <a:rPr sz="1600">
                <a:solidFill>
                  <a:srgbClr val="C8D3E0"/>
                </a:solidFill>
                <a:latin typeface="Menlo"/>
              </a:rPr>
              <a:t>cd physical-ai-workshop</a:t>
            </a:r>
          </a:p>
          <a:p>
            <a:r>
              <a:rPr sz="1600">
                <a:solidFill>
                  <a:srgbClr val="C8D3E0"/>
                </a:solidFill>
                <a:latin typeface="Menlo"/>
              </a:rPr>
              <a:t>python -m venv .venv &amp;&amp; source .venv/bin/activate</a:t>
            </a:r>
          </a:p>
          <a:p>
            <a:r>
              <a:rPr sz="1600">
                <a:solidFill>
                  <a:srgbClr val="C8D3E0"/>
                </a:solidFill>
                <a:latin typeface="Menlo"/>
              </a:rPr>
              <a:t>pip install -r requirements.txt</a:t>
            </a:r>
          </a:p>
          <a:p>
            <a:r>
              <a:rPr sz="1600">
                <a:solidFill>
                  <a:srgbClr val="C8D3E0"/>
                </a:solidFill>
                <a:latin typeface="Menlo"/>
              </a:rPr>
              <a:t>python notebooks/download_data.py     # 1.1 GB, once</a:t>
            </a:r>
          </a:p>
          <a:p>
            <a:r>
              <a:rPr sz="1600">
                <a:solidFill>
                  <a:srgbClr val="C8D3E0"/>
                </a:solidFill>
                <a:latin typeface="Menlo"/>
              </a:rPr>
              <a:t>jupyter lab notebooks/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694944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700" b="1">
                <a:solidFill>
                  <a:srgbClr val="F2F4F7"/>
                </a:solidFill>
                <a:latin typeface="Helvetica Neue"/>
              </a:rPr>
              <a:t>Laptop CPU is enough. </a:t>
            </a:r>
            <a:r>
              <a:rPr sz="1700" b="0">
                <a:solidFill>
                  <a:srgbClr val="9AA4B2"/>
                </a:solidFill>
                <a:latin typeface="Helvetica Neue"/>
              </a:rPr>
              <a:t>Every GPU step's output is already in the datasets you download.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700" b="1">
                <a:solidFill>
                  <a:srgbClr val="F2F4F7"/>
                </a:solidFill>
                <a:latin typeface="Helvetica Neue"/>
              </a:rPr>
              <a:t>Slow wifi? </a:t>
            </a:r>
            <a:r>
              <a:rPr sz="1700" b="0">
                <a:solidFill>
                  <a:srgbClr val="9AA4B2"/>
                </a:solidFill>
                <a:latin typeface="Helvetica Neue"/>
              </a:rPr>
              <a:t>USB sticks at the front: python notebooks/download_data.py --from-usb /Volumes/WORKSHOP</a:t>
            </a:r>
          </a:p>
        </p:txBody>
      </p:sp>
      <p:pic>
        <p:nvPicPr>
          <p:cNvPr id="8" name="Picture 7" descr="re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103120"/>
            <a:ext cx="2743200" cy="2743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36815" y="48920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AA4B2"/>
                </a:solidFill>
                <a:latin typeface="Menlo"/>
              </a:rPr>
              <a:t>github.com/danielgural/physical-ai-workshop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D04"/>
                </a:solidFill>
                <a:latin typeface="Helvetica Neue"/>
              </a:rPr>
              <a:t>WHY WE ARE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Physical AI has a data problem. It is not collection.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5156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1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2100" b="1">
                <a:solidFill>
                  <a:srgbClr val="F2F4F7"/>
                </a:solidFill>
                <a:latin typeface="Helvetica Neue"/>
              </a:rPr>
              <a:t>Every demonstration is expensive </a:t>
            </a:r>
            <a:r>
              <a:rPr sz="2100" b="0">
                <a:solidFill>
                  <a:srgbClr val="9AA4B2"/>
                </a:solidFill>
                <a:latin typeface="Helvetica Neue"/>
              </a:rPr>
              <a:t>— human teleop time; you cannot just collect more.</a:t>
            </a:r>
          </a:p>
          <a:p>
            <a:pPr algn="l">
              <a:spcAft>
                <a:spcPts val="1200"/>
              </a:spcAft>
            </a:pPr>
            <a:r>
              <a:rPr sz="21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2100" b="1">
                <a:solidFill>
                  <a:srgbClr val="F2F4F7"/>
                </a:solidFill>
                <a:latin typeface="Helvetica Neue"/>
              </a:rPr>
              <a:t>Quality lives at the episode level </a:t>
            </a:r>
            <a:r>
              <a:rPr sz="2100" b="0">
                <a:solidFill>
                  <a:srgbClr val="9AA4B2"/>
                </a:solidFill>
                <a:latin typeface="Helvetica Neue"/>
              </a:rPr>
              <a:t>— failed grasps, occluded cameras, teleop glitches, degenerate 2-second 'successes'.</a:t>
            </a:r>
          </a:p>
          <a:p>
            <a:pPr algn="l">
              <a:spcAft>
                <a:spcPts val="1200"/>
              </a:spcAft>
            </a:pPr>
            <a:r>
              <a:rPr sz="21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2100" b="1">
                <a:solidFill>
                  <a:srgbClr val="F2F4F7"/>
                </a:solidFill>
                <a:latin typeface="Helvetica Neue"/>
              </a:rPr>
              <a:t>Nobody looks </a:t>
            </a:r>
            <a:r>
              <a:rPr sz="2100" b="0">
                <a:solidFill>
                  <a:srgbClr val="9AA4B2"/>
                </a:solidFill>
                <a:latin typeface="Helvetica Neue"/>
              </a:rPr>
              <a:t>— a recording is a 60 MB binary blob; without tooling it never gets opened.</a:t>
            </a:r>
          </a:p>
          <a:p>
            <a:pPr algn="l">
              <a:spcAft>
                <a:spcPts val="1200"/>
              </a:spcAft>
            </a:pPr>
            <a:r>
              <a:rPr sz="21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2100" b="1">
                <a:solidFill>
                  <a:srgbClr val="F2F4F7"/>
                </a:solidFill>
                <a:latin typeface="Helvetica Neue"/>
              </a:rPr>
              <a:t>The model is rarely the bottleneck </a:t>
            </a:r>
            <a:r>
              <a:rPr sz="2100" b="0">
                <a:solidFill>
                  <a:srgbClr val="9AA4B2"/>
                </a:solidFill>
                <a:latin typeface="Helvetica Neue"/>
              </a:rPr>
              <a:t>— whether anyone has looked at the data 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D04"/>
                </a:solidFill>
                <a:latin typeface="Helvetica Neue"/>
              </a:rPr>
              <a:t>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The loop every serious robotics team runs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see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9340" y="23317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13660" y="21945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curate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30040" y="23317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4360" y="21945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embed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20740" y="23317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5060" y="21945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label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1440" y="23317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85760" y="21945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train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2140" y="23317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76460" y="21945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evaluate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2918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9AA4B2"/>
                </a:solidFill>
                <a:latin typeface="Helvetica Neue"/>
              </a:rPr>
              <a:t>100 DROID robot-arm episodes. Two hours. Open-source FiftyOne on your laptop for the interactive steps; Nebius Serverless AI Jobs for the GPU steps. The same loop, pointed at millions of episodes, is what production teams run.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754880"/>
            <a:ext cx="5120640" cy="109728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84632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6D04"/>
                </a:solidFill>
                <a:latin typeface="Helvetica Neue"/>
              </a:rPr>
              <a:t>you  </a:t>
            </a:r>
            <a:r>
              <a:rPr sz="1500" b="0">
                <a:solidFill>
                  <a:srgbClr val="F2F4F7"/>
                </a:solidFill>
                <a:latin typeface="Helvetica Neue"/>
              </a:rPr>
              <a:t>explore · curate · browse embeddings · review labels · evaluate · tag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754880"/>
            <a:ext cx="5120640" cy="109728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84632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7CF29A"/>
                </a:solidFill>
                <a:latin typeface="Helvetica Neue"/>
              </a:rPr>
              <a:t>Nebius  </a:t>
            </a:r>
            <a:r>
              <a:rPr sz="1500" b="0">
                <a:solidFill>
                  <a:srgbClr val="F2F4F7"/>
                </a:solidFill>
                <a:latin typeface="Helvetica Neue"/>
              </a:rPr>
              <a:t>embeddings at scale · YOLO11n fine-tune · (Token Factory: auto-label VLMs)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D04"/>
                </a:solidFill>
                <a:latin typeface="Helvetica Neue"/>
              </a:rPr>
              <a:t>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A robot demonstration is not an image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58521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3 cameras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wrist + two externals, H.264, synchronized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Depth + fused point clouds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the scene in 3D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Joint state, gripper state, end-effector speed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what the arm actually did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3D cuboid tracks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labels over time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One .mcap file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one of 76,000 in DROID, 13 labs</a:t>
            </a:r>
          </a:p>
        </p:txBody>
      </p:sp>
      <p:pic>
        <p:nvPicPr>
          <p:cNvPr id="7" name="Picture 6" descr="episode-viewer-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103120"/>
            <a:ext cx="4754880" cy="26746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D04"/>
                </a:solidFill>
                <a:latin typeface="Helvetica Neue"/>
              </a:rPr>
              <a:t>THE WHOLE TRICK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An episode is a sample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515600" cy="210312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/>
            <a:r>
              <a:rPr sz="1600">
                <a:solidFill>
                  <a:srgbClr val="C8D3E0"/>
                </a:solidFill>
                <a:latin typeface="Menlo"/>
              </a:rPr>
              <a:t>import fiftyone as fo</a:t>
            </a:r>
          </a:p>
          <a:p>
            <a:r>
              <a:rPr sz="1600">
                <a:solidFill>
                  <a:srgbClr val="C8D3E0"/>
                </a:solidFill>
                <a:latin typeface="Menlo"/>
              </a:rPr>
              <a:t> </a:t>
            </a:r>
          </a:p>
          <a:p>
            <a:r>
              <a:rPr sz="1600">
                <a:solidFill>
                  <a:srgbClr val="C8D3E0"/>
                </a:solidFill>
                <a:latin typeface="Menlo"/>
              </a:rPr>
              <a:t>dataset = fo.Dataset("droid")</a:t>
            </a:r>
          </a:p>
          <a:p>
            <a:r>
              <a:rPr sz="1600">
                <a:solidFill>
                  <a:srgbClr val="C8D3E0"/>
                </a:solidFill>
                <a:latin typeface="Menlo"/>
              </a:rPr>
              <a:t>dataset.add_samples([fo.Sample("episode-0001.mcap"), ...])</a:t>
            </a:r>
          </a:p>
          <a:p>
            <a:r>
              <a:rPr sz="1600">
                <a:solidFill>
                  <a:srgbClr val="C8D3E0"/>
                </a:solidFill>
                <a:latin typeface="Menlo"/>
              </a:rPr>
              <a:t> </a:t>
            </a:r>
          </a:p>
          <a:p>
            <a:r>
              <a:rPr sz="1600">
                <a:solidFill>
                  <a:srgbClr val="C8D3E0"/>
                </a:solidFill>
                <a:latin typeface="Menlo"/>
              </a:rPr>
              <a:t>dataset.media_type   # "multimodal" — no conversion, no ROS install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805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AA4B2"/>
                </a:solidFill>
                <a:latin typeface="Helvetica Neue"/>
              </a:rPr>
              <a:t>Cameras, point clouds, transforms and cuboids are discovered from the file. Fields you add — task, lab, success, joint statistics — make episodes queryable. Temporal tags label a time range, not a frame.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FF6D04"/>
          </a:solidFill>
          <a:ln>
            <a:solidFill>
              <a:srgbClr val="FF6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4"/>
                </a:solidFill>
              </a:rPr>
              <a:t>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93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136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curate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300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43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embed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07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50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label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14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857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train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21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764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6D04"/>
                </a:solidFill>
                <a:latin typeface="Menlo"/>
              </a:rPr>
              <a:t>10–25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2F4F7"/>
                </a:solidFill>
                <a:latin typeface="Helvetica Neue"/>
              </a:rPr>
              <a:t>Explore a recording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233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9AA4B2"/>
                </a:solidFill>
                <a:latin typeface="Helvetica Neue"/>
              </a:rPr>
              <a:t>Three cameras and 3D on one clock. Filter episodes like rows. Tag an interval.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623560"/>
            <a:ext cx="10515600" cy="64008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751576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6D04"/>
                </a:solidFill>
                <a:latin typeface="Menlo"/>
              </a:rPr>
              <a:t>you  </a:t>
            </a:r>
            <a:r>
              <a:rPr sz="1500" b="0">
                <a:solidFill>
                  <a:srgbClr val="F2F4F7"/>
                </a:solidFill>
                <a:latin typeface="Menlo"/>
              </a:rPr>
              <a:t>01_explore_mcap.ipynb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751576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7CF29A"/>
                </a:solidFill>
                <a:latin typeface="Menlo"/>
              </a:rPr>
              <a:t>presenter  </a:t>
            </a:r>
            <a:r>
              <a:rPr sz="1500" b="0">
                <a:solidFill>
                  <a:srgbClr val="F2F4F7"/>
                </a:solidFill>
                <a:latin typeface="Menlo"/>
              </a:rPr>
              <a:t>demo.fiftyone.ai · Droid demo (100 episodes)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D04"/>
                </a:solidFill>
                <a:latin typeface="Helvetica Neue"/>
              </a:rPr>
              <a:t>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What is in the ten episodes you downloaded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60350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A 1.4 s 'multi-step task'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gripper never closed (gripper_open_frac = 1.0). Marked failed. Correctly.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A 2.8 s 'success'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put brick in drawer and close it, in under three seconds? Look at it.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grasp / release intervals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31 temporal tags already on the timeline; queryable with match_temporal_tags().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Five task families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brick-in-drawer, fold cloth, unhang cloth, clump/unclump, multi-step.</a:t>
            </a:r>
          </a:p>
        </p:txBody>
      </p:sp>
      <p:pic>
        <p:nvPicPr>
          <p:cNvPr id="7" name="Picture 6" descr="droid-temporal-ta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103120"/>
            <a:ext cx="457200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93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136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FF6D04"/>
          </a:solidFill>
          <a:ln>
            <a:solidFill>
              <a:srgbClr val="FF6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4"/>
                </a:solidFill>
              </a:rPr>
              <a:t>curate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300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43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embed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07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50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label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14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857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train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21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764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6D04"/>
                </a:solidFill>
                <a:latin typeface="Menlo"/>
              </a:rPr>
              <a:t>25–40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2F4F7"/>
                </a:solidFill>
                <a:latin typeface="Helvetica Neue"/>
              </a:rPr>
              <a:t>Curate: frames out of the recording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233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9AA4B2"/>
                </a:solidFill>
                <a:latin typeface="Helvetica Neue"/>
              </a:rPr>
              <a:t>Decode the camera streams at 1 fps. Filter with robot state. Drop near-duplicates. Save the view.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623560"/>
            <a:ext cx="10515600" cy="64008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751576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6D04"/>
                </a:solidFill>
                <a:latin typeface="Menlo"/>
              </a:rPr>
              <a:t>you  </a:t>
            </a:r>
            <a:r>
              <a:rPr sz="1500" b="0">
                <a:solidFill>
                  <a:srgbClr val="F2F4F7"/>
                </a:solidFill>
                <a:latin typeface="Menlo"/>
              </a:rPr>
              <a:t>02_curate_frames.ipynb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751576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7CF29A"/>
                </a:solidFill>
                <a:latin typeface="Menlo"/>
              </a:rPr>
              <a:t>presenter  </a:t>
            </a:r>
            <a:r>
              <a:rPr sz="1500" b="0">
                <a:solidFill>
                  <a:srgbClr val="F2F4F7"/>
                </a:solidFill>
                <a:latin typeface="Menlo"/>
              </a:rPr>
              <a:t>demo.fiftyone.ai · Droid workshop frames (5,172 frames)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D04"/>
                </a:solidFill>
                <a:latin typeface="Helvetica Neue"/>
              </a:rPr>
              <a:t>CURATE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Every frame remembers its recording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6035040" cy="310896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/>
            <a:r>
              <a:rPr sz="1400">
                <a:solidFill>
                  <a:srgbClr val="9AA4B2"/>
                </a:solidFill>
                <a:latin typeface="Menlo"/>
              </a:rPr>
              <a:t># build/extract_frames.py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for _, ch, msg, proto in reader.iter_decoded_messages(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        topics=["/camera/ext1/image_rgb"]):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    ffmpeg.stdin.write(proto.data)   # H.264 → fps=1 → 640px JPEG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 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sample = fo.Sample(filepath=jpg)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sample["episode_id"]   = episode.episode_id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sample["camera"]       = "ext1"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sample["timestamp_ns"] = t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sample["gripper_open"] = nearest(gripper_state, t)</a:t>
            </a:r>
          </a:p>
        </p:txBody>
      </p:sp>
      <p:pic>
        <p:nvPicPr>
          <p:cNvPr id="7" name="Picture 6" descr="frame-ext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2103120"/>
            <a:ext cx="4297680" cy="2417445"/>
          </a:xfrm>
          <a:prstGeom prst="rect">
            <a:avLst/>
          </a:prstGeom>
        </p:spPr>
      </p:pic>
      <p:pic>
        <p:nvPicPr>
          <p:cNvPr id="8" name="Picture 7" descr="frame-wris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4114800"/>
            <a:ext cx="2103120" cy="11830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0" y="4114800"/>
            <a:ext cx="21945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AA4B2"/>
                </a:solidFill>
                <a:latin typeface="Helvetica Neue"/>
              </a:rPr>
              <a:t>5,172 frames · 75 episodes · 3 cameras · gripper state and joint speed per frame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93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136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curate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300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43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FF6D04"/>
          </a:solidFill>
          <a:ln>
            <a:solidFill>
              <a:srgbClr val="FF6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4"/>
                </a:solidFill>
              </a:rPr>
              <a:t>embed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07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50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label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14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857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train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21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764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6D04"/>
                </a:solidFill>
                <a:latin typeface="Menlo"/>
              </a:rPr>
              <a:t>40–55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2F4F7"/>
                </a:solidFill>
                <a:latin typeface="Helvetica Neue"/>
              </a:rPr>
              <a:t>Embeddings, similarity, visualization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233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9AA4B2"/>
                </a:solidFill>
                <a:latin typeface="Helvetica Neue"/>
              </a:rPr>
              <a:t>CLIP on every frame. UMAP to see structure. A similarity index for 'more like this' — and text prompts.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623560"/>
            <a:ext cx="10515600" cy="64008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751576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6D04"/>
                </a:solidFill>
                <a:latin typeface="Menlo"/>
              </a:rPr>
              <a:t>you  </a:t>
            </a:r>
            <a:r>
              <a:rPr sz="1500" b="0">
                <a:solidFill>
                  <a:srgbClr val="F2F4F7"/>
                </a:solidFill>
                <a:latin typeface="Menlo"/>
              </a:rPr>
              <a:t>03_embeddings.ipynb  (runs precomputed)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751576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7CF29A"/>
                </a:solidFill>
                <a:latin typeface="Menlo"/>
              </a:rPr>
              <a:t>presenter  </a:t>
            </a:r>
            <a:r>
              <a:rPr sz="1500" b="0">
                <a:solidFill>
                  <a:srgbClr val="F2F4F7"/>
                </a:solidFill>
                <a:latin typeface="Menlo"/>
              </a:rPr>
              <a:t>Nebius Serverless AI Jobs · embeddings at scale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CF29A"/>
                </a:solidFill>
                <a:latin typeface="Helvetica Neue"/>
              </a:rPr>
              <a:t>EMBED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Batch on the GPU, interactive on the laptop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5156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compute_embeddings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one call, any model: CLIP today, Qwen3-VL-Embedding or SigLIP2 tomorrow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As a Nebius Serverless AI Job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a container reads frames from object storage, writes vectors back; no cluster to keep warm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Then the brain runs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compute_similarity, compute_visualization, compute_uniqueness, find_duplicates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The room never waits on a GPU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every run ships in the dataset; you lasso, sort, tag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754880"/>
            <a:ext cx="10515600" cy="82296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/>
            <a:r>
              <a:rPr sz="1400">
                <a:solidFill>
                  <a:srgbClr val="C8D3E0"/>
                </a:solidFill>
                <a:latin typeface="Menlo"/>
              </a:rPr>
              <a:t>frames.compute_embeddings(model, embeddings_field="clip");  fob.compute_visualization(frames, embeddings="clip", brain_key="frames_viz")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93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136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curate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300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43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embed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07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50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FF6D04"/>
          </a:solidFill>
          <a:ln>
            <a:solidFill>
              <a:srgbClr val="FF6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4"/>
                </a:solidFill>
              </a:rPr>
              <a:t>label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14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857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train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21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764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6D04"/>
                </a:solidFill>
                <a:latin typeface="Menlo"/>
              </a:rPr>
              <a:t>55–75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2F4F7"/>
                </a:solidFill>
                <a:latin typeface="Helvetica Neue"/>
              </a:rPr>
              <a:t>Auto-label with open vocabulary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233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9AA4B2"/>
                </a:solidFill>
                <a:latin typeface="Helvetica Neue"/>
              </a:rPr>
              <a:t>Grounding DINO, prompted with words. 7 labels on 5,172 frames. Humans review the queue, not the corpus.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623560"/>
            <a:ext cx="10515600" cy="64008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751576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6D04"/>
                </a:solidFill>
                <a:latin typeface="Menlo"/>
              </a:rPr>
              <a:t>you  </a:t>
            </a:r>
            <a:r>
              <a:rPr sz="1500" b="0">
                <a:solidFill>
                  <a:srgbClr val="F2F4F7"/>
                </a:solidFill>
                <a:latin typeface="Menlo"/>
              </a:rPr>
              <a:t>04_autolabel.ipynb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751576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7CF29A"/>
                </a:solidFill>
                <a:latin typeface="Menlo"/>
              </a:rPr>
              <a:t>presenter  </a:t>
            </a:r>
            <a:r>
              <a:rPr sz="1500" b="0">
                <a:solidFill>
                  <a:srgbClr val="F2F4F7"/>
                </a:solidFill>
                <a:latin typeface="Menlo"/>
              </a:rPr>
              <a:t>Grounding DINO on the presenter GPU · Token Factory VLMs next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D04"/>
                </a:solidFill>
                <a:latin typeface="Helvetica Neue"/>
              </a:rPr>
              <a:t>LABEL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Models draft. Humans verify the 5% that matters.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5156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Prompt, do not annotate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'robot gripper . robot arm . blue brick . scissors . drawer . cloth . cardboard box'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Confidence is a field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sort by it; the bottom of the list is your review queue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Check labels against state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the gripper is in every wrist frame; if boxes are missing, the labeler is wrong, not the data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Split by episode, never by frame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1 fps neighbours are near-identical; a frame split leaks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Curation chose what to label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curated_train, minus near-duplicates, is the training set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D04"/>
                </a:solidFill>
                <a:latin typeface="Helvetica Neue"/>
              </a:rPr>
              <a:t>PART ONE 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2F4F7"/>
                </a:solidFill>
                <a:latin typeface="Helvetica Neue"/>
              </a:rPr>
              <a:t>Lightning talks. Then we train.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08960"/>
            <a:ext cx="694944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1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2100" b="1">
                <a:solidFill>
                  <a:srgbClr val="F2F4F7"/>
                </a:solidFill>
                <a:latin typeface="Helvetica Neue"/>
              </a:rPr>
              <a:t>Right now on Nebius </a:t>
            </a:r>
            <a:r>
              <a:rPr sz="2100" b="0">
                <a:solidFill>
                  <a:srgbClr val="9AA4B2"/>
                </a:solidFill>
                <a:latin typeface="Helvetica Neue"/>
              </a:rPr>
              <a:t>— YOLO11n is fine-tuning on the frames we just labeled (L40S, 15 epochs, ~10 min)</a:t>
            </a:r>
          </a:p>
          <a:p>
            <a:pPr algn="l">
              <a:spcAft>
                <a:spcPts val="1200"/>
              </a:spcAft>
            </a:pPr>
            <a:r>
              <a:rPr sz="21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2100" b="1">
                <a:solidFill>
                  <a:srgbClr val="F2F4F7"/>
                </a:solidFill>
                <a:latin typeface="Helvetica Neue"/>
              </a:rPr>
              <a:t>Part two </a:t>
            </a:r>
            <a:r>
              <a:rPr sz="2100" b="0">
                <a:solidFill>
                  <a:srgbClr val="9AA4B2"/>
                </a:solidFill>
                <a:latin typeface="Helvetica Neue"/>
              </a:rPr>
              <a:t>— pull the weights, evaluate, put detections back on the recording, then Nebius</a:t>
            </a:r>
          </a:p>
          <a:p>
            <a:pPr algn="l">
              <a:spcAft>
                <a:spcPts val="1200"/>
              </a:spcAft>
            </a:pPr>
            <a:r>
              <a:rPr sz="21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2100" b="1">
                <a:solidFill>
                  <a:srgbClr val="F2F4F7"/>
                </a:solidFill>
                <a:latin typeface="Helvetica Neue"/>
              </a:rPr>
              <a:t>Catch up </a:t>
            </a:r>
            <a:r>
              <a:rPr sz="2100" b="0">
                <a:solidFill>
                  <a:srgbClr val="9AA4B2"/>
                </a:solidFill>
                <a:latin typeface="Helvetica Neue"/>
              </a:rPr>
              <a:t>— notebooks 01–04 are what we did; 05–06 are next</a:t>
            </a:r>
          </a:p>
        </p:txBody>
      </p:sp>
      <p:pic>
        <p:nvPicPr>
          <p:cNvPr id="7" name="Picture 6" descr="re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377440"/>
            <a:ext cx="2560320" cy="2560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19695" y="498348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AA4B2"/>
                </a:solidFill>
                <a:latin typeface="Menlo"/>
              </a:rPr>
              <a:t>github.com/danielgural/physical-ai-workshop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16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93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136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curate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300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43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embed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07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50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label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14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857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FF6D04"/>
          </a:solidFill>
          <a:ln>
            <a:solidFill>
              <a:srgbClr val="FF6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4"/>
                </a:solidFill>
              </a:rPr>
              <a:t>train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21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764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6D04"/>
                </a:solidFill>
                <a:latin typeface="Menlo"/>
              </a:rPr>
              <a:t>75–95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2F4F7"/>
                </a:solidFill>
                <a:latin typeface="Helvetica Neue"/>
              </a:rPr>
              <a:t>Fine-tune YOLO11n on Nebius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233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9AA4B2"/>
                </a:solidFill>
                <a:latin typeface="Helvetica Neue"/>
              </a:rPr>
              <a:t>Export to YOLO format. Stage on Nebius Object Storage. Submit a Serverless AI Job from a notebook. Pull best.pt.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623560"/>
            <a:ext cx="10515600" cy="64008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751576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6D04"/>
                </a:solidFill>
                <a:latin typeface="Menlo"/>
              </a:rPr>
              <a:t>you  </a:t>
            </a:r>
            <a:r>
              <a:rPr sz="1500" b="0">
                <a:solidFill>
                  <a:srgbClr val="F2F4F7"/>
                </a:solidFill>
                <a:latin typeface="Menlo"/>
              </a:rPr>
              <a:t>05_train_eval.ipynb  (predictions + eval baked in)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751576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7CF29A"/>
                </a:solidFill>
                <a:latin typeface="Menlo"/>
              </a:rPr>
              <a:t>presenter  </a:t>
            </a:r>
            <a:r>
              <a:rPr sz="1500" b="0">
                <a:solidFill>
                  <a:srgbClr val="F2F4F7"/>
                </a:solidFill>
                <a:latin typeface="Menlo"/>
              </a:rPr>
              <a:t>Nebius Serverless AI Jobs · L40S · yolo11n.pt · 15 epochs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CF29A"/>
                </a:solidFill>
                <a:latin typeface="Helvetica Neue"/>
              </a:rPr>
              <a:t>TRAIN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A training job is a container, a bucket and one API call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6766560" cy="338328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/>
            <a:r>
              <a:rPr sz="1400">
                <a:solidFill>
                  <a:srgbClr val="C8D3E0"/>
                </a:solidFill>
                <a:latin typeface="Menlo"/>
              </a:rPr>
              <a:t>from presenter.nebius_job import NebiusJob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job = NebiusJob()                          # IAM token + Object Storage key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job.upload_dir("build/yolo_export", "runs/stuttgart/input")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 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job_id = job.submit("stuttgart", "runs/stuttgart",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    model="yolo11n.pt", epochs=15, imgsz=640,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    platform="gpu-l40s-a", preset="1gpu-8vcpu-32gb")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 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job.wait(job_id)   # PROVISIONING → RUNNING → COMPLETED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job.download("runs/stuttgart/output/best.pt", "weights/best.pt")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103120"/>
            <a:ext cx="42062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500" b="1">
                <a:solidFill>
                  <a:srgbClr val="F2F4F7"/>
                </a:solidFill>
                <a:latin typeface="Helvetica Neue"/>
              </a:rPr>
              <a:t>Serverless </a:t>
            </a:r>
            <a:r>
              <a:rPr sz="1500" b="0">
                <a:solidFill>
                  <a:srgbClr val="9AA4B2"/>
                </a:solidFill>
                <a:latin typeface="Helvetica Neue"/>
              </a:rPr>
              <a:t>— no cluster; a GPU appears for the job and goes away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500" b="1">
                <a:solidFill>
                  <a:srgbClr val="F2F4F7"/>
                </a:solidFill>
                <a:latin typeface="Helvetica Neue"/>
              </a:rPr>
              <a:t>Image </a:t>
            </a:r>
            <a:r>
              <a:rPr sz="1500" b="0">
                <a:solidFill>
                  <a:srgbClr val="9AA4B2"/>
                </a:solidFill>
                <a:latin typeface="Helvetica Neue"/>
              </a:rPr>
              <a:t>— ghcr.io/danielgural/fiftyone-yolo-train, public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500" b="1">
                <a:solidFill>
                  <a:srgbClr val="F2F4F7"/>
                </a:solidFill>
                <a:latin typeface="Helvetica Neue"/>
              </a:rPr>
              <a:t>Contract </a:t>
            </a:r>
            <a:r>
              <a:rPr sz="1500" b="0">
                <a:solidFill>
                  <a:srgbClr val="9AA4B2"/>
                </a:solidFill>
                <a:latin typeface="Helvetica Neue"/>
              </a:rPr>
              <a:t>— INPUT_S3_URI · OUTPUT_S3_URI · MODEL · HYPERPARAMS_JSON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500" b="1">
                <a:solidFill>
                  <a:srgbClr val="F2F4F7"/>
                </a:solidFill>
                <a:latin typeface="Helvetica Neue"/>
              </a:rPr>
              <a:t>Data </a:t>
            </a:r>
            <a:r>
              <a:rPr sz="1500" b="0">
                <a:solidFill>
                  <a:srgbClr val="9AA4B2"/>
                </a:solidFill>
                <a:latin typeface="Helvetica Neue"/>
              </a:rPr>
              <a:t>— stays in Nebius Object Storage, eu-north1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D04"/>
                </a:solidFill>
                <a:latin typeface="Helvetica Neue"/>
              </a:rPr>
              <a:t>EVALUATE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Evaluate against the auto-labels — every cell is a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64008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evaluate_detections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mAP, per-class P/R, confusion matrix; results live on the samples as eval_yolo_tp / fp / fn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Click a confusion cell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the grid shows exactly those frames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Worst-first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sort validation by false positives; open the episodes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Missed grippers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false negatives grouped by episode tell you what to collect next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2103120"/>
            <a:ext cx="3931920" cy="237744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/>
            <a:r>
              <a:rPr sz="1300">
                <a:solidFill>
                  <a:srgbClr val="C8D3E0"/>
                </a:solidFill>
                <a:latin typeface="Menlo"/>
              </a:rPr>
              <a:t>results = val.evaluate_detections(</a:t>
            </a:r>
          </a:p>
          <a:p>
            <a:r>
              <a:rPr sz="1300">
                <a:solidFill>
                  <a:srgbClr val="C8D3E0"/>
                </a:solidFill>
                <a:latin typeface="Menlo"/>
              </a:rPr>
              <a:t>    "yolo11n_preds",</a:t>
            </a:r>
          </a:p>
          <a:p>
            <a:r>
              <a:rPr sz="1300">
                <a:solidFill>
                  <a:srgbClr val="C8D3E0"/>
                </a:solidFill>
                <a:latin typeface="Menlo"/>
              </a:rPr>
              <a:t>    gt_field="auto_labels",</a:t>
            </a:r>
          </a:p>
          <a:p>
            <a:r>
              <a:rPr sz="1300">
                <a:solidFill>
                  <a:srgbClr val="C8D3E0"/>
                </a:solidFill>
                <a:latin typeface="Menlo"/>
              </a:rPr>
              <a:t>    eval_key="eval_yolo",</a:t>
            </a:r>
          </a:p>
          <a:p>
            <a:r>
              <a:rPr sz="1300">
                <a:solidFill>
                  <a:srgbClr val="C8D3E0"/>
                </a:solidFill>
                <a:latin typeface="Menlo"/>
              </a:rPr>
              <a:t>    compute_mAP=True)</a:t>
            </a:r>
          </a:p>
          <a:p>
            <a:r>
              <a:rPr sz="1300">
                <a:solidFill>
                  <a:srgbClr val="C8D3E0"/>
                </a:solidFill>
                <a:latin typeface="Menlo"/>
              </a:rPr>
              <a:t>results.print_report()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19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FF6D04"/>
          </a:solidFill>
          <a:ln>
            <a:solidFill>
              <a:srgbClr val="FF6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4"/>
                </a:solidFill>
              </a:rPr>
              <a:t>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93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136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curate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300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43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embed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07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50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label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14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857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train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21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764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FF6D04"/>
          </a:solidFill>
          <a:ln>
            <a:solidFill>
              <a:srgbClr val="FF6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4"/>
                </a:solidFill>
              </a:rPr>
              <a:t>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6D04"/>
                </a:solidFill>
                <a:latin typeface="Menlo"/>
              </a:rPr>
              <a:t>95–105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2F4F7"/>
                </a:solidFill>
                <a:latin typeface="Helvetica Neue"/>
              </a:rPr>
              <a:t>Close the loop on the timeline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233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9AA4B2"/>
                </a:solidFill>
                <a:latin typeface="Helvetica Neue"/>
              </a:rPr>
              <a:t>Detections on frames become temporal tags on the recording. Query the episodes by what the model saw.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623560"/>
            <a:ext cx="10515600" cy="64008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751576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6D04"/>
                </a:solidFill>
                <a:latin typeface="Menlo"/>
              </a:rPr>
              <a:t>you  </a:t>
            </a:r>
            <a:r>
              <a:rPr sz="1500" b="0">
                <a:solidFill>
                  <a:srgbClr val="F2F4F7"/>
                </a:solidFill>
                <a:latin typeface="Menlo"/>
              </a:rPr>
              <a:t>06_close_the_loop.ipynb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751576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7CF29A"/>
                </a:solidFill>
                <a:latin typeface="Menlo"/>
              </a:rPr>
              <a:t>presenter  </a:t>
            </a:r>
            <a:r>
              <a:rPr sz="1500" b="0">
                <a:solidFill>
                  <a:srgbClr val="F2F4F7"/>
                </a:solidFill>
                <a:latin typeface="Menlo"/>
              </a:rPr>
              <a:t>demo.fiftyone.ai · predictions back on Droid demo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D04"/>
                </a:solidFill>
                <a:latin typeface="Helvetica Neue"/>
              </a:rPr>
              <a:t>WRAP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91440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FF6D04"/>
          </a:solidFill>
          <a:ln>
            <a:solidFill>
              <a:srgbClr val="FF6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4"/>
                </a:solidFill>
              </a:rPr>
              <a:t>see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9340" y="105156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13660" y="91440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FF6D04"/>
          </a:solidFill>
          <a:ln>
            <a:solidFill>
              <a:srgbClr val="FF6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4"/>
                </a:solidFill>
              </a:rPr>
              <a:t>curate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30040" y="105156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4360" y="91440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FF6D04"/>
          </a:solidFill>
          <a:ln>
            <a:solidFill>
              <a:srgbClr val="FF6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4"/>
                </a:solidFill>
              </a:rPr>
              <a:t>embed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0740" y="105156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5060" y="91440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FF6D04"/>
          </a:solidFill>
          <a:ln>
            <a:solidFill>
              <a:srgbClr val="FF6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4"/>
                </a:solidFill>
              </a:rPr>
              <a:t>label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1440" y="105156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5760" y="91440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FF6D04"/>
          </a:solidFill>
          <a:ln>
            <a:solidFill>
              <a:srgbClr val="FF6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4"/>
                </a:solidFill>
              </a:rPr>
              <a:t>train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2140" y="105156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76460" y="91440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FF6D04"/>
          </a:solidFill>
          <a:ln>
            <a:solidFill>
              <a:srgbClr val="FF6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4"/>
                </a:solidFill>
              </a:rPr>
              <a:t>evaluate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18288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2F4F7"/>
                </a:solidFill>
                <a:latin typeface="Helvetica Neue"/>
              </a:rPr>
              <a:t>Same loop. Bigger plumbing.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822960" y="2560320"/>
          <a:ext cx="10515600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548640"/>
                <a:gridCol w="6035040"/>
              </a:tblGrid>
              <a:tr h="41801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BC0EB"/>
                          </a:solidFill>
                          <a:latin typeface="Menlo"/>
                        </a:rPr>
                        <a:t>today, your laptop</a:t>
                      </a:r>
                    </a:p>
                  </a:txBody>
                  <a:tcPr marT="40000" marB="40000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9AA4B2"/>
                          </a:solidFill>
                          <a:latin typeface="Menlo"/>
                        </a:rPr>
                        <a:t>→</a:t>
                      </a:r>
                    </a:p>
                  </a:txBody>
                  <a:tcPr marT="40000" marB="40000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2F4F7"/>
                          </a:solidFill>
                          <a:latin typeface="Menlo"/>
                        </a:rPr>
                        <a:t>a production robotics team</a:t>
                      </a:r>
                    </a:p>
                  </a:txBody>
                  <a:tcPr marT="40000" marB="40000">
                    <a:solidFill>
                      <a:srgbClr val="0B0F14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BC0EB"/>
                          </a:solidFill>
                          <a:latin typeface="Menlo"/>
                        </a:rPr>
                        <a:t>10 episodes, 5k frames</a:t>
                      </a:r>
                    </a:p>
                  </a:txBody>
                  <a:tcPr marT="40000" marB="40000">
                    <a:solidFill>
                      <a:srgbClr val="14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9AA4B2"/>
                          </a:solidFill>
                          <a:latin typeface="Menlo"/>
                        </a:rPr>
                        <a:t>→</a:t>
                      </a:r>
                    </a:p>
                  </a:txBody>
                  <a:tcPr marT="40000" marB="40000">
                    <a:solidFill>
                      <a:srgbClr val="14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2F4F7"/>
                          </a:solidFill>
                          <a:latin typeface="Menlo"/>
                        </a:rPr>
                        <a:t>millions of episodes in a data lake</a:t>
                      </a:r>
                    </a:p>
                  </a:txBody>
                  <a:tcPr marT="40000" marB="40000">
                    <a:solidFill>
                      <a:srgbClr val="141A2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BC0EB"/>
                          </a:solidFill>
                          <a:latin typeface="Menlo"/>
                        </a:rPr>
                        <a:t>you scrubbing an episode</a:t>
                      </a:r>
                    </a:p>
                  </a:txBody>
                  <a:tcPr marT="40000" marB="40000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9AA4B2"/>
                          </a:solidFill>
                          <a:latin typeface="Menlo"/>
                        </a:rPr>
                        <a:t>→</a:t>
                      </a:r>
                    </a:p>
                  </a:txBody>
                  <a:tcPr marT="40000" marB="40000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2F4F7"/>
                          </a:solidFill>
                          <a:latin typeface="Menlo"/>
                        </a:rPr>
                        <a:t>triage teams on every collection run</a:t>
                      </a:r>
                    </a:p>
                  </a:txBody>
                  <a:tcPr marT="40000" marB="40000">
                    <a:solidFill>
                      <a:srgbClr val="0B0F14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BC0EB"/>
                          </a:solidFill>
                          <a:latin typeface="Menlo"/>
                        </a:rPr>
                        <a:t>CLIP baked into the dataset</a:t>
                      </a:r>
                    </a:p>
                  </a:txBody>
                  <a:tcPr marT="40000" marB="40000">
                    <a:solidFill>
                      <a:srgbClr val="14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9AA4B2"/>
                          </a:solidFill>
                          <a:latin typeface="Menlo"/>
                        </a:rPr>
                        <a:t>→</a:t>
                      </a:r>
                    </a:p>
                  </a:txBody>
                  <a:tcPr marT="40000" marB="40000">
                    <a:solidFill>
                      <a:srgbClr val="14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2F4F7"/>
                          </a:solidFill>
                          <a:latin typeface="Menlo"/>
                        </a:rPr>
                        <a:t>embedding jobs on Nebius on every ingest</a:t>
                      </a:r>
                    </a:p>
                  </a:txBody>
                  <a:tcPr marT="40000" marB="40000">
                    <a:solidFill>
                      <a:srgbClr val="141A2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BC0EB"/>
                          </a:solidFill>
                          <a:latin typeface="Menlo"/>
                        </a:rPr>
                        <a:t>Grounding DINO labels</a:t>
                      </a:r>
                    </a:p>
                  </a:txBody>
                  <a:tcPr marT="40000" marB="40000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9AA4B2"/>
                          </a:solidFill>
                          <a:latin typeface="Menlo"/>
                        </a:rPr>
                        <a:t>→</a:t>
                      </a:r>
                    </a:p>
                  </a:txBody>
                  <a:tcPr marT="40000" marB="40000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2F4F7"/>
                          </a:solidFill>
                          <a:latin typeface="Menlo"/>
                        </a:rPr>
                        <a:t>VLM labelers on Token Factory, human verify queues</a:t>
                      </a:r>
                    </a:p>
                  </a:txBody>
                  <a:tcPr marT="40000" marB="40000">
                    <a:solidFill>
                      <a:srgbClr val="0B0F14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BC0EB"/>
                          </a:solidFill>
                          <a:latin typeface="Menlo"/>
                        </a:rPr>
                        <a:t>one YOLO11n on an L40S</a:t>
                      </a:r>
                    </a:p>
                  </a:txBody>
                  <a:tcPr marT="40000" marB="40000">
                    <a:solidFill>
                      <a:srgbClr val="14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9AA4B2"/>
                          </a:solidFill>
                          <a:latin typeface="Menlo"/>
                        </a:rPr>
                        <a:t>→</a:t>
                      </a:r>
                    </a:p>
                  </a:txBody>
                  <a:tcPr marT="40000" marB="40000">
                    <a:solidFill>
                      <a:srgbClr val="14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2F4F7"/>
                          </a:solidFill>
                          <a:latin typeface="Menlo"/>
                        </a:rPr>
                        <a:t>scheduled fine-tunes gated by curation queries</a:t>
                      </a:r>
                    </a:p>
                  </a:txBody>
                  <a:tcPr marT="40000" marB="40000">
                    <a:solidFill>
                      <a:srgbClr val="141A22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BC0EB"/>
                          </a:solidFill>
                          <a:latin typeface="Menlo"/>
                        </a:rPr>
                        <a:t>brick-visible on ten timelines</a:t>
                      </a:r>
                    </a:p>
                  </a:txBody>
                  <a:tcPr marT="40000" marB="40000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9AA4B2"/>
                          </a:solidFill>
                          <a:latin typeface="Menlo"/>
                        </a:rPr>
                        <a:t>→</a:t>
                      </a:r>
                    </a:p>
                  </a:txBody>
                  <a:tcPr marT="40000" marB="40000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2F4F7"/>
                          </a:solidFill>
                          <a:latin typeface="Menlo"/>
                        </a:rPr>
                        <a:t>model output as a first-class field on every recording</a:t>
                      </a:r>
                    </a:p>
                  </a:txBody>
                  <a:tcPr marT="40000" marB="40000">
                    <a:solidFill>
                      <a:srgbClr val="0B0F1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D04"/>
                </a:solidFill>
                <a:latin typeface="Helvetica Neue"/>
              </a:rPr>
              <a:t>YOUR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Do this on your recordings this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69494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pip install fiftyone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drop one of your own .mcap files into the MCAP Explorer. Watch 20 episodes. You will find something.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Hosted FiftyOne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app.voxel51.com: same App, no install, datasets and brain runs in the cloud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Take the repo home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extract_frames.py, the notebooks, the Nebius job helper are all yours</a:t>
            </a:r>
          </a:p>
        </p:txBody>
      </p:sp>
      <p:pic>
        <p:nvPicPr>
          <p:cNvPr id="7" name="Picture 6" descr="selfse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103120"/>
            <a:ext cx="2560320" cy="2560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19695" y="470916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AA4B2"/>
                </a:solidFill>
                <a:latin typeface="Menlo"/>
              </a:rPr>
              <a:t>app.voxel51.com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CF29A"/>
                </a:solidFill>
                <a:latin typeface="Helvetica Neue"/>
              </a:rPr>
              <a:t>NEBIUS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2F4F7"/>
                </a:solidFill>
                <a:latin typeface="Helvetica Neue"/>
              </a:rPr>
              <a:t>What else runs on Nebius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9AA4B2"/>
                </a:solidFill>
                <a:latin typeface="Helvetica Neue"/>
              </a:rPr>
              <a:t>The GPU you just watched train a detector is one of three surfaces built for the Physical AI loop.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CF29A"/>
                </a:solidFill>
                <a:latin typeface="Helvetica Neue"/>
              </a:rPr>
              <a:t>NEBIUS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Three surfaces for the Physical AI loop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3291840" cy="329184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8600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7CF29A"/>
                </a:solidFill>
                <a:latin typeface="Helvetica Neue"/>
              </a:rPr>
              <a:t>Workbench CLI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926080"/>
            <a:ext cx="28346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2F4F7"/>
                </a:solidFill>
                <a:latin typeface="Helvetica Neue"/>
              </a:rPr>
              <a:t>Build, train and deploy Physical AI systems from one open-source CLI — containerized tools, SkyPilot workflows, SDK entry points.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03120"/>
            <a:ext cx="3291840" cy="329184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28600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7CF29A"/>
                </a:solidFill>
                <a:latin typeface="Helvetica Neue"/>
              </a:rPr>
              <a:t>Serverless AI Jobs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926080"/>
            <a:ext cx="28346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2F4F7"/>
                </a:solidFill>
                <a:latin typeface="Helvetica Neue"/>
              </a:rPr>
              <a:t>Provision in under three minutes for simulation, synthetic data and policy training. Pay for the job, not a cluster. What you saw today.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2103120"/>
            <a:ext cx="3291840" cy="329184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228600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7CF29A"/>
                </a:solidFill>
                <a:latin typeface="Helvetica Neue"/>
              </a:rPr>
              <a:t>Token Factory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2926080"/>
            <a:ext cx="28346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2F4F7"/>
                </a:solidFill>
                <a:latin typeface="Helvetica Neue"/>
              </a:rPr>
              <a:t>Open-weight chat and vision models behind one API — Qwen, GLM, Kimi — for labeling, review and augmentation of real-world data.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CF29A"/>
                </a:solidFill>
                <a:latin typeface="Helvetica Neue"/>
              </a:rPr>
              <a:t>NEBIUS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Where Token Factory plugs into today's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5156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Label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a vision-language model reads the frame and the task string: 'is the brick in the drawer?' becomes a field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Review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the low-confidence queue goes to a VLM first, humans second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Describe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per-episode natural-language summaries for search: 'episodes where the cloth slipped'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OpenAI-compatible API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api.tokenfactory.nebius.com/v1; the same code you already write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Credits for builders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through the Builder Program, next slide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CF29A"/>
                </a:solidFill>
                <a:latin typeface="Helvetica Neue"/>
              </a:rPr>
              <a:t>NEBIUS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Keep going: Physical AI Office Hours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5156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2000" b="1">
                <a:solidFill>
                  <a:srgbClr val="F2F4F7"/>
                </a:solidFill>
                <a:latin typeface="Helvetica Neue"/>
              </a:rPr>
              <a:t>Biweekly online sessions </a:t>
            </a:r>
            <a:r>
              <a:rPr sz="2000" b="0">
                <a:solidFill>
                  <a:srgbClr val="9AA4B2"/>
                </a:solidFill>
                <a:latin typeface="Helvetica Neue"/>
              </a:rPr>
              <a:t>— raw robotics data to a working model in one sitting</a:t>
            </a:r>
          </a:p>
          <a:p>
            <a:pPr algn="l">
              <a:spcAft>
                <a:spcPts val="1200"/>
              </a:spcAft>
            </a:pPr>
            <a:r>
              <a:rPr sz="20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2000" b="1">
                <a:solidFill>
                  <a:srgbClr val="F2F4F7"/>
                </a:solidFill>
                <a:latin typeface="Helvetica Neue"/>
              </a:rPr>
              <a:t>Voxel51 workshop series </a:t>
            </a:r>
            <a:r>
              <a:rPr sz="2000" b="0">
                <a:solidFill>
                  <a:srgbClr val="9AA4B2"/>
                </a:solidFill>
                <a:latin typeface="Helvetica Neue"/>
              </a:rPr>
              <a:t>— this format, 15 cities, September–November 2026</a:t>
            </a:r>
          </a:p>
          <a:p>
            <a:pPr algn="l">
              <a:spcAft>
                <a:spcPts val="1200"/>
              </a:spcAft>
            </a:pPr>
            <a:r>
              <a:rPr sz="20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2000" b="1">
                <a:solidFill>
                  <a:srgbClr val="F2F4F7"/>
                </a:solidFill>
                <a:latin typeface="Helvetica Neue"/>
              </a:rPr>
              <a:t>Builders &amp; Brews </a:t>
            </a:r>
            <a:r>
              <a:rPr sz="2000" b="0">
                <a:solidFill>
                  <a:srgbClr val="9AA4B2"/>
                </a:solidFill>
                <a:latin typeface="Helvetica Neue"/>
              </a:rPr>
              <a:t>— casual monthly builds; Berlin, Amsterdam, Paris, London, Warsaw…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CF29A"/>
                </a:solidFill>
                <a:latin typeface="Helvetica Neue"/>
              </a:rPr>
              <a:t>NEBIUS BUILDER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GPU credits for what you build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67665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Scan now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the form is prefilled with this workshop; it takes a minute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Credits + onboarding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from sign-up to first job with a human, not a doc dump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Serverless, Workbench, Token Factory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everything you saw today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Bring your recordings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the repo's job helper works on your bucket unchanged</a:t>
            </a:r>
          </a:p>
        </p:txBody>
      </p:sp>
      <p:pic>
        <p:nvPicPr>
          <p:cNvPr id="7" name="Picture 6" descr="nebius-stuttg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920240"/>
            <a:ext cx="292608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53935" y="489204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AA4B2"/>
                </a:solidFill>
                <a:latin typeface="Menlo"/>
              </a:rPr>
              <a:t>link.voxel51.com/nebius-stuttgart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600" b="1">
                <a:solidFill>
                  <a:srgbClr val="F2F4F7"/>
                </a:solidFill>
                <a:latin typeface="Helvetica Neue"/>
              </a:rPr>
              <a:t>Look at your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68580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6D04"/>
                </a:solidFill>
                <a:latin typeface="Menlo"/>
              </a:rPr>
              <a:t>repo        </a:t>
            </a:r>
            <a:r>
              <a:rPr sz="1700" b="0">
                <a:solidFill>
                  <a:srgbClr val="F2F4F7"/>
                </a:solidFill>
                <a:latin typeface="Menlo"/>
              </a:rPr>
              <a:t>github.com/danielgural/physical-ai-workshop</a:t>
            </a:r>
          </a:p>
          <a:p>
            <a:pPr algn="l"/>
            <a:r>
              <a:rPr sz="1700" b="1">
                <a:solidFill>
                  <a:srgbClr val="FF6D04"/>
                </a:solidFill>
                <a:latin typeface="Menlo"/>
              </a:rPr>
              <a:t>datasets    </a:t>
            </a:r>
            <a:r>
              <a:rPr sz="1700" b="0">
                <a:solidFill>
                  <a:srgbClr val="F2F4F7"/>
                </a:solidFill>
                <a:latin typeface="Menlo"/>
              </a:rPr>
              <a:t>huggingface.co/datasets/dgural/droid-mcap-workshop</a:t>
            </a:r>
          </a:p>
          <a:p>
            <a:pPr algn="l"/>
            <a:r>
              <a:rPr sz="1700" b="1">
                <a:solidFill>
                  <a:srgbClr val="FF6D04"/>
                </a:solidFill>
                <a:latin typeface="Menlo"/>
              </a:rPr>
              <a:t>            </a:t>
            </a:r>
            <a:r>
              <a:rPr sz="1700" b="0">
                <a:solidFill>
                  <a:srgbClr val="F2F4F7"/>
                </a:solidFill>
                <a:latin typeface="Menlo"/>
              </a:rPr>
              <a:t>huggingface.co/datasets/dgural/droid-frames-workshop</a:t>
            </a:r>
          </a:p>
          <a:p>
            <a:pPr algn="l"/>
            <a:r>
              <a:rPr sz="1700" b="1">
                <a:solidFill>
                  <a:srgbClr val="FF6D04"/>
                </a:solidFill>
                <a:latin typeface="Menlo"/>
              </a:rPr>
              <a:t>fiftyone    </a:t>
            </a:r>
            <a:r>
              <a:rPr sz="1700" b="0">
                <a:solidFill>
                  <a:srgbClr val="F2F4F7"/>
                </a:solidFill>
                <a:latin typeface="Menlo"/>
              </a:rPr>
              <a:t>github.com/voxel51/fiftyone  ·  app.voxel51.com</a:t>
            </a:r>
          </a:p>
          <a:p>
            <a:pPr algn="l"/>
            <a:r>
              <a:rPr sz="1700" b="1">
                <a:solidFill>
                  <a:srgbClr val="7CF29A"/>
                </a:solidFill>
                <a:latin typeface="Menlo"/>
              </a:rPr>
              <a:t>nebius      </a:t>
            </a:r>
            <a:r>
              <a:rPr sz="1700" b="0">
                <a:solidFill>
                  <a:srgbClr val="F2F4F7"/>
                </a:solidFill>
                <a:latin typeface="Menlo"/>
              </a:rPr>
              <a:t>link.voxel51.com/nebius-stuttgart</a:t>
            </a:r>
          </a:p>
        </p:txBody>
      </p:sp>
      <p:pic>
        <p:nvPicPr>
          <p:cNvPr id="6" name="Picture 5" descr="re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2743200"/>
            <a:ext cx="1737360" cy="1737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23760" y="452628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AA4B2"/>
                </a:solidFill>
                <a:latin typeface="Menlo"/>
              </a:rPr>
              <a:t>repo</a:t>
            </a:r>
          </a:p>
        </p:txBody>
      </p:sp>
      <p:pic>
        <p:nvPicPr>
          <p:cNvPr id="8" name="Picture 7" descr="nebius-stuttg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2743200"/>
            <a:ext cx="1737360" cy="1737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42655" y="452628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AA4B2"/>
                </a:solidFill>
                <a:latin typeface="Menlo"/>
              </a:rPr>
              <a:t>nebius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6692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AA4B2"/>
                </a:solidFill>
                <a:latin typeface="Helvetica Neue"/>
              </a:rPr>
              <a:t>DROID: Khazatsky et al. 2024, CC-BY-4.0 · droid-dataset.github.io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